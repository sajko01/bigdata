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0.svg" ContentType="image/svg+xml"/>
  <Override PartName="/ppt/media/image21.svg" ContentType="image/svg+xml"/>
  <Override PartName="/ppt/media/image22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8" r:id="rId9"/>
    <p:sldId id="269" r:id="rId10"/>
    <p:sldId id="260" r:id="rId11"/>
    <p:sldId id="270" r:id="rId12"/>
    <p:sldId id="261" r:id="rId13"/>
    <p:sldId id="262" r:id="rId14"/>
    <p:sldId id="266" r:id="rId15"/>
    <p:sldId id="263" r:id="rId16"/>
    <p:sldId id="264" r:id="rId17"/>
    <p:sldId id="265" r:id="rId18"/>
  </p:sldIdLst>
  <p:sldSz cx="14630400" cy="8229600"/>
  <p:notesSz cx="8229600" cy="14630400"/>
  <p:embeddedFontLst>
    <p:embeddedFont>
      <p:font typeface="Libre Baskerville" panose="02000000000000000000" pitchFamily="34" charset="0"/>
      <p:bold r:id="rId22"/>
    </p:embeddedFont>
    <p:embeddedFont>
      <p:font typeface="Libre Baskerville" panose="02000000000000000000" pitchFamily="34" charset="-122"/>
      <p:bold r:id="rId23"/>
    </p:embeddedFont>
    <p:embeddedFont>
      <p:font typeface="Libre Baskerville" panose="02000000000000000000" pitchFamily="34" charset="-120"/>
      <p:bold r:id="rId24"/>
    </p:embeddedFont>
    <p:embeddedFont>
      <p:font typeface="DM Sans" pitchFamily="34" charset="0"/>
      <p:bold r:id="rId25"/>
    </p:embeddedFont>
    <p:embeddedFont>
      <p:font typeface="DM Sans" pitchFamily="34" charset="-122"/>
      <p:bold r:id="rId26"/>
    </p:embeddedFont>
    <p:embeddedFont>
      <p:font typeface="DM Sans" pitchFamily="34" charset="-120"/>
      <p:bold r:id="rId27"/>
    </p:embeddedFont>
    <p:embeddedFont>
      <p:font typeface="Consolas" panose="020B0609020204030204" pitchFamily="34" charset="0"/>
      <p:regular r:id="rId28"/>
      <p:bold r:id="rId29"/>
      <p:italic r:id="rId30"/>
      <p:boldItalic r:id="rId31"/>
    </p:embeddedFont>
    <p:embeddedFont>
      <p:font typeface="Consolas" panose="020B0609020204030204" pitchFamily="34" charset="-122"/>
      <p:regular r:id="rId32"/>
    </p:embeddedFont>
    <p:embeddedFont>
      <p:font typeface="Consolas" panose="020B0609020204030204" pitchFamily="34" charset="-120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font" Target="fonts/font16.fntdata"/><Relationship Id="rId36" Type="http://schemas.openxmlformats.org/officeDocument/2006/relationships/font" Target="fonts/font15.fntdata"/><Relationship Id="rId35" Type="http://schemas.openxmlformats.org/officeDocument/2006/relationships/font" Target="fonts/font14.fntdata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9.svg"/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9.xml"/><Relationship Id="rId12" Type="http://schemas.openxmlformats.org/officeDocument/2006/relationships/image" Target="../media/image11.png"/><Relationship Id="rId11" Type="http://schemas.openxmlformats.org/officeDocument/2006/relationships/tags" Target="../tags/tag10.xml"/><Relationship Id="rId10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9.xml"/><Relationship Id="rId12" Type="http://schemas.openxmlformats.org/officeDocument/2006/relationships/image" Target="../media/image12.png"/><Relationship Id="rId11" Type="http://schemas.openxmlformats.org/officeDocument/2006/relationships/tags" Target="../tags/tag20.xml"/><Relationship Id="rId10" Type="http://schemas.openxmlformats.org/officeDocument/2006/relationships/image" Target="../media/image4.png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9.xml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tags" Target="../tags/tag30.xml"/><Relationship Id="rId10" Type="http://schemas.openxmlformats.org/officeDocument/2006/relationships/image" Target="../media/image4.png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2.svg"/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40.xml"/><Relationship Id="rId11" Type="http://schemas.openxmlformats.org/officeDocument/2006/relationships/image" Target="../media/image4.png"/><Relationship Id="rId10" Type="http://schemas.openxmlformats.org/officeDocument/2006/relationships/image" Target="../media/image23.png"/><Relationship Id="rId1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9.xml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tags" Target="../tags/tag50.xml"/><Relationship Id="rId10" Type="http://schemas.openxmlformats.org/officeDocument/2006/relationships/image" Target="../media/image4.png"/><Relationship Id="rId1" Type="http://schemas.openxmlformats.org/officeDocument/2006/relationships/tags" Target="../tags/tag4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3" Type="http://schemas.openxmlformats.org/officeDocument/2006/relationships/image" Target="../media/image27.svg"/><Relationship Id="rId2" Type="http://schemas.openxmlformats.org/officeDocument/2006/relationships/image" Target="../media/image6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50" y="2287270"/>
            <a:ext cx="7733665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Distribuirana Batch Obrada Velikog Dataset-a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95832"/>
            <a:ext cx="734246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Implementacija korišćenjem Apache Spark i HDFS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490323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Projekat se fokusira na obradu i analizu velikog dataset-a (~7+ miliona redova) korišćenjem distribuirane arhitekture Apache Spark i Hadoop HDFS. Implementirane su filter, sort i statističke funkcionalnosti sa evaluacijom performansi između različitih formata i konfiguracija.</a:t>
            </a:r>
            <a:endParaRPr lang="en-US" sz="17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940" y="778065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1281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Arhitektura Spark Cluster-a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05814"/>
            <a:ext cx="3682603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Komponente sistema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357920"/>
            <a:ext cx="4717971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Distribuirana arhitektura omogućava paralelnu obradu velikih količina podataka kroz više računara povezanih u klaster. Spark Driver inicijalizuje zadatke, dok Executors na worker nodovima izvršavaju operacije u paralelnim partitijama.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739408"/>
            <a:ext cx="4717971" cy="16894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Driver proces (master)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Executor procesi (workers)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manager (Standalone/Docker)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HDFS za distribuirano skladištenje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1559183" y="2705814"/>
            <a:ext cx="2284928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Tehnologije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1559183" y="3357920"/>
            <a:ext cx="2284928" cy="24153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Apache Spark (PySpark API)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Hadoop HDFS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Docker-based cluster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3.x</a:t>
            </a:r>
            <a:endParaRPr lang="en-US" sz="17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0" y="7768590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2326" y="1059656"/>
            <a:ext cx="4718566" cy="5300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Dataset Karakteristike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462326" y="1843445"/>
            <a:ext cx="3817382" cy="1805464"/>
          </a:xfrm>
          <a:prstGeom prst="roundRect">
            <a:avLst>
              <a:gd name="adj" fmla="val 394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39491" y="2020610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B88E23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9389" y="2160508"/>
            <a:ext cx="228957" cy="228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9491" y="2656284"/>
            <a:ext cx="2120503" cy="265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7.368.000 redova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39491" y="2997398"/>
            <a:ext cx="3463052" cy="474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dataset veličine ~1GB sa dnevnim zapisima korisnika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06509" y="1843445"/>
            <a:ext cx="3817382" cy="1805464"/>
          </a:xfrm>
          <a:prstGeom prst="roundRect">
            <a:avLst>
              <a:gd name="adj" fmla="val 394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83674" y="2020610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B88E23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3573" y="2160508"/>
            <a:ext cx="228957" cy="2289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83674" y="2656284"/>
            <a:ext cx="2120503" cy="265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10 atributa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5583674" y="2997398"/>
            <a:ext cx="3463052" cy="474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Kombinacija numeričkih i kategorijalnih podataka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350693" y="1843445"/>
            <a:ext cx="3817382" cy="1805464"/>
          </a:xfrm>
          <a:prstGeom prst="roundRect">
            <a:avLst>
              <a:gd name="adj" fmla="val 394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27858" y="2020610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B88E23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7756" y="2160508"/>
            <a:ext cx="228957" cy="2289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27858" y="2656284"/>
            <a:ext cx="2120503" cy="265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Time-series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9527858" y="2997398"/>
            <a:ext cx="3463052" cy="474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Dnevni zapisi sa temporalnom komponentom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2326" y="3839170"/>
            <a:ext cx="2544723" cy="3180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Atributi dataset-a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1462326" y="4347448"/>
            <a:ext cx="11705749" cy="2442686"/>
          </a:xfrm>
          <a:prstGeom prst="roundRect">
            <a:avLst>
              <a:gd name="adj" fmla="val 291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469946" y="4355068"/>
            <a:ext cx="11690509" cy="4045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1" name="Text 16"/>
          <p:cNvSpPr/>
          <p:nvPr/>
        </p:nvSpPr>
        <p:spPr>
          <a:xfrm>
            <a:off x="1639610" y="4438769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Kategorija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50525" y="4438769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Atributi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469946" y="4759643"/>
            <a:ext cx="11690509" cy="4045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4" name="Text 19"/>
          <p:cNvSpPr/>
          <p:nvPr/>
        </p:nvSpPr>
        <p:spPr>
          <a:xfrm>
            <a:off x="1639610" y="4843343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Identifikatori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150525" y="4843343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uid, day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1469946" y="5164217"/>
            <a:ext cx="11690509" cy="4045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7" name="Text 22"/>
          <p:cNvSpPr/>
          <p:nvPr/>
        </p:nvSpPr>
        <p:spPr>
          <a:xfrm>
            <a:off x="1639610" y="5247918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Mentalno zdravlje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150525" y="5247918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stress, phq4_score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1469946" y="5568791"/>
            <a:ext cx="11690509" cy="4045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0" name="Text 25"/>
          <p:cNvSpPr/>
          <p:nvPr/>
        </p:nvSpPr>
        <p:spPr>
          <a:xfrm>
            <a:off x="1639610" y="5652492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Fizička aktivnost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5150525" y="5652492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social_level, sleep_duration, daily_steps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1469946" y="5973366"/>
            <a:ext cx="11690509" cy="4045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3" name="Text 28"/>
          <p:cNvSpPr/>
          <p:nvPr/>
        </p:nvSpPr>
        <p:spPr>
          <a:xfrm>
            <a:off x="1639610" y="6057067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Demografski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150525" y="6057067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gender, race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1469946" y="6377940"/>
            <a:ext cx="11690509" cy="4045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6" name="Text 31"/>
          <p:cNvSpPr/>
          <p:nvPr/>
        </p:nvSpPr>
        <p:spPr>
          <a:xfrm>
            <a:off x="1639610" y="6461641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COVID-19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5150525" y="6461641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covid_total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1462326" y="6932771"/>
            <a:ext cx="11705749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highlight>
                  <a:srgbClr val="B88E23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Big Data scenarij: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Veliki obim podataka, potreba za distribuiranom obradom, nemogućnost efikasne obrade klasičnim Python skriptama.</a:t>
            </a:r>
            <a:endParaRPr lang="en-US" sz="130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115" y="780859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471" y="709374"/>
            <a:ext cx="7663696" cy="6405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Čišćenje i Priprema Podataka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7471" y="1720453"/>
            <a:ext cx="204907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7471" y="2045970"/>
            <a:ext cx="4274939" cy="2286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5" name="Text 3"/>
          <p:cNvSpPr/>
          <p:nvPr/>
        </p:nvSpPr>
        <p:spPr>
          <a:xfrm>
            <a:off x="717471" y="2194084"/>
            <a:ext cx="2562463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Preuzimanje CSV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7471" y="2625447"/>
            <a:ext cx="4274939" cy="6243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Originalni dataset college.csv (sa raznim nekorisnim podacima)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77671" y="1720453"/>
            <a:ext cx="204907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77671" y="2045970"/>
            <a:ext cx="4274939" cy="2286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9" name="Text 7"/>
          <p:cNvSpPr/>
          <p:nvPr/>
        </p:nvSpPr>
        <p:spPr>
          <a:xfrm>
            <a:off x="5177671" y="2194084"/>
            <a:ext cx="2562463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Cleaning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77671" y="2625447"/>
            <a:ext cx="4274939" cy="6243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Uklanjanje null vrednosti, castovanje tipova, standardizacija datuma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37871" y="1720453"/>
            <a:ext cx="204907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37871" y="2045970"/>
            <a:ext cx="4275058" cy="2286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13" name="Text 11"/>
          <p:cNvSpPr/>
          <p:nvPr/>
        </p:nvSpPr>
        <p:spPr>
          <a:xfrm>
            <a:off x="9637871" y="2194084"/>
            <a:ext cx="2562463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Selekcija kolona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37871" y="2625447"/>
            <a:ext cx="4275058" cy="6243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Odabir relevantnih atributa za analizu i dupliranje do 1GB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471" y="3588782"/>
            <a:ext cx="204907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7471" y="3914299"/>
            <a:ext cx="6505099" cy="2286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17" name="Text 15"/>
          <p:cNvSpPr/>
          <p:nvPr/>
        </p:nvSpPr>
        <p:spPr>
          <a:xfrm>
            <a:off x="717471" y="4062413"/>
            <a:ext cx="2732961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Konverzija u Parquet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471" y="4493776"/>
            <a:ext cx="6505099" cy="3121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Columnar storage format sa kompresijom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7831" y="3588782"/>
            <a:ext cx="204907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7831" y="3914299"/>
            <a:ext cx="6505099" cy="2286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21" name="Text 19"/>
          <p:cNvSpPr/>
          <p:nvPr/>
        </p:nvSpPr>
        <p:spPr>
          <a:xfrm>
            <a:off x="7407831" y="4062413"/>
            <a:ext cx="2922151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Organizacija strukture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07831" y="4493776"/>
            <a:ext cx="6505099" cy="3121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CSV I PARQUET fajlovi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7471" y="5168027"/>
            <a:ext cx="13195459" cy="2352199"/>
          </a:xfrm>
          <a:prstGeom prst="roundRect">
            <a:avLst>
              <a:gd name="adj" fmla="val 3660"/>
            </a:avLst>
          </a:prstGeom>
          <a:solidFill>
            <a:srgbClr val="F3E4BF"/>
          </a:solidFill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377" y="5431750"/>
            <a:ext cx="320278" cy="256223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47562" y="5404485"/>
            <a:ext cx="2562463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Zašto Parquet?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47562" y="5910024"/>
            <a:ext cx="12260461" cy="14430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Columnar storage optimizovan za analitiku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Visoka kompresija (manje prostora)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Predicate pushdown optimizacija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Brže čitanje u Spark-u</a:t>
            </a:r>
            <a:endParaRPr lang="en-US" sz="16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705" y="778065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Reformatirani podaci, CSV format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5710" y="2427605"/>
            <a:ext cx="8610600" cy="38957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Postavke projekta, docker ps  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2160" y="1963420"/>
            <a:ext cx="13347700" cy="314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139" y="590669"/>
            <a:ext cx="4673679" cy="5790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Integracija sa HDFS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22139" y="1758672"/>
            <a:ext cx="2779514" cy="3474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HDFS komande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922139" y="2276356"/>
            <a:ext cx="4181237" cy="1354693"/>
          </a:xfrm>
          <a:prstGeom prst="roundRect">
            <a:avLst>
              <a:gd name="adj" fmla="val 5745"/>
            </a:avLst>
          </a:prstGeom>
          <a:solidFill>
            <a:srgbClr val="F2F0ED"/>
          </a:solidFill>
        </p:spPr>
      </p:sp>
      <p:sp>
        <p:nvSpPr>
          <p:cNvPr id="5" name="Shape 3"/>
          <p:cNvSpPr/>
          <p:nvPr/>
        </p:nvSpPr>
        <p:spPr>
          <a:xfrm>
            <a:off x="912971" y="2276356"/>
            <a:ext cx="4199573" cy="1354693"/>
          </a:xfrm>
          <a:prstGeom prst="roundRect">
            <a:avLst>
              <a:gd name="adj" fmla="val 2052"/>
            </a:avLst>
          </a:prstGeom>
          <a:solidFill>
            <a:srgbClr val="F2F0ED"/>
          </a:solidFill>
        </p:spPr>
      </p:sp>
      <p:sp>
        <p:nvSpPr>
          <p:cNvPr id="6" name="Text 4"/>
          <p:cNvSpPr/>
          <p:nvPr/>
        </p:nvSpPr>
        <p:spPr>
          <a:xfrm>
            <a:off x="1098233" y="2415302"/>
            <a:ext cx="3829050" cy="10768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hdfs dfs -mkdir /user/student/data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hdfs dfs -put college_clean.parquet 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/user/student/data/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hdfs dfs -ls /user/student/data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22139" y="3801308"/>
            <a:ext cx="2316242" cy="2894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HDFS prednosti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2139" y="4242078"/>
            <a:ext cx="4181237" cy="123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Distribuirano skladištenje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Fault tolerance (replikacija blokova)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locality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Horizontal skalabilnost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957" y="1566982"/>
            <a:ext cx="8152686" cy="400431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39" y="5911810"/>
            <a:ext cx="4261961" cy="7411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7400" y="6804303"/>
            <a:ext cx="2316242" cy="2894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HDFS blokovi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07400" y="7184469"/>
            <a:ext cx="3891439" cy="269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128MB ili 256MB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100" y="5911810"/>
            <a:ext cx="4261961" cy="7411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69362" y="6804303"/>
            <a:ext cx="2316242" cy="2894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Spark Executors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5369362" y="7184469"/>
            <a:ext cx="3891439" cy="269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Paralelna obrada</a:t>
            </a:r>
            <a:endParaRPr lang="en-US" sz="1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062" y="5911810"/>
            <a:ext cx="4262080" cy="7411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31323" y="6804303"/>
            <a:ext cx="2316242" cy="2894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Rezultat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9631323" y="7184469"/>
            <a:ext cx="3891558" cy="269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Analiza</a:t>
            </a:r>
            <a:endParaRPr lang="en-US" sz="14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0" y="773112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Pregled konfiguracije, HDFS  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1718310"/>
            <a:ext cx="12794615" cy="163258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165" y="3444240"/>
            <a:ext cx="12785725" cy="289306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165" y="6297295"/>
            <a:ext cx="12785090" cy="10502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140" y="847963"/>
            <a:ext cx="8931593" cy="6598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Implementirane Funkcionalnosti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39140" y="1900952"/>
            <a:ext cx="4252913" cy="4168497"/>
          </a:xfrm>
          <a:prstGeom prst="roundRect">
            <a:avLst>
              <a:gd name="adj" fmla="val 212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1923812"/>
            <a:ext cx="4207193" cy="633532"/>
          </a:xfrm>
          <a:prstGeom prst="roundRect">
            <a:avLst>
              <a:gd name="adj" fmla="val 9670"/>
            </a:avLst>
          </a:prstGeom>
          <a:solidFill>
            <a:srgbClr val="F7EDD4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07243" y="2078355"/>
            <a:ext cx="316706" cy="3167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3098" y="2753916"/>
            <a:ext cx="2639735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FILTER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73098" y="3201710"/>
            <a:ext cx="3784997" cy="652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Filtriranje redova po zadatom atributu i vrednosti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73098" y="3972044"/>
            <a:ext cx="3784997" cy="10244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spark-submit spark_analysis_parquet.py filter stress 3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73098" y="5114330"/>
            <a:ext cx="3784997" cy="7211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Dinamički argumenti kroz CLI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Prebrojavanje rezultata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188625" y="1900952"/>
            <a:ext cx="4253032" cy="4168497"/>
          </a:xfrm>
          <a:prstGeom prst="roundRect">
            <a:avLst>
              <a:gd name="adj" fmla="val 212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1485" y="1923812"/>
            <a:ext cx="4207312" cy="633532"/>
          </a:xfrm>
          <a:prstGeom prst="roundRect">
            <a:avLst>
              <a:gd name="adj" fmla="val 9670"/>
            </a:avLst>
          </a:prstGeom>
          <a:solidFill>
            <a:srgbClr val="F7EDD4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6728" y="2078355"/>
            <a:ext cx="316706" cy="3167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2583" y="2753916"/>
            <a:ext cx="2639735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SORT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5422583" y="3201710"/>
            <a:ext cx="3785116" cy="652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Sortiranje po zadatoj koloni u ascending ili descending redosledu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5422583" y="3972044"/>
            <a:ext cx="3785116" cy="10244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spark-submit spark_analysis_parquet.py sort stress desc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5422583" y="5114330"/>
            <a:ext cx="3785116" cy="7211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Shuffle operacija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Veće potrošnje resursa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9638228" y="1900952"/>
            <a:ext cx="4253032" cy="4168497"/>
          </a:xfrm>
          <a:prstGeom prst="roundRect">
            <a:avLst>
              <a:gd name="adj" fmla="val 212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61088" y="1923812"/>
            <a:ext cx="4207312" cy="633532"/>
          </a:xfrm>
          <a:prstGeom prst="roundRect">
            <a:avLst>
              <a:gd name="adj" fmla="val 9670"/>
            </a:avLst>
          </a:prstGeom>
          <a:solidFill>
            <a:srgbClr val="F7EDD4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06332" y="2078355"/>
            <a:ext cx="316706" cy="31670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72186" y="2753916"/>
            <a:ext cx="2639735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STATS</a:t>
            </a:r>
            <a:endParaRPr lang="en-US" sz="2050" dirty="0"/>
          </a:p>
        </p:txBody>
      </p:sp>
      <p:sp>
        <p:nvSpPr>
          <p:cNvPr id="21" name="Text 16"/>
          <p:cNvSpPr/>
          <p:nvPr/>
        </p:nvSpPr>
        <p:spPr>
          <a:xfrm>
            <a:off x="9872186" y="3201710"/>
            <a:ext cx="3785116" cy="652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Grupisana statistička analiza korišćenjem GroupBy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9872186" y="3972044"/>
            <a:ext cx="3785116" cy="10244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spark-submit spark_analysis_parquet.py stats stress gender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9872186" y="5114330"/>
            <a:ext cx="3785116" cy="7211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min, max, avg, stddev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sum, count, median, Q1, Q3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739140" y="6364367"/>
            <a:ext cx="6190059" cy="3960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Dinamička SparkSession inicijalizacija</a:t>
            </a:r>
            <a:endParaRPr lang="en-US" sz="2450" dirty="0"/>
          </a:p>
        </p:txBody>
      </p:sp>
      <p:sp>
        <p:nvSpPr>
          <p:cNvPr id="25" name="Text 20"/>
          <p:cNvSpPr/>
          <p:nvPr/>
        </p:nvSpPr>
        <p:spPr>
          <a:xfrm>
            <a:off x="739140" y="7055287"/>
            <a:ext cx="13152120" cy="3262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Master URL definisan u kodu, mogućnost pokretanja lokalno ili na cluster-u.</a:t>
            </a:r>
            <a:endParaRPr lang="en-US" sz="165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2040" y="7768590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Performanse: Lokalno vs Cluster(CSV vs Parquet)</a:t>
            </a:r>
            <a:endParaRPr lang="en-US" sz="385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32s, 20S, 24S, (40s, 32s, 363s )</a:t>
            </a:r>
            <a:endParaRPr lang="en-US" sz="16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  <a:sym typeface="+mn-ea"/>
              </a:rPr>
              <a:t>filter,sort, stats</a:t>
            </a:r>
            <a:endParaRPr lang="en-US" sz="19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Lokalno, (HDFS) - CSV </a:t>
            </a:r>
            <a:endParaRPr lang="en-US" sz="19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7.368.000 redova</a:t>
            </a: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  <a:sym typeface="+mn-ea"/>
              </a:rPr>
              <a:t>filter,sort, stats</a:t>
            </a:r>
            <a:endParaRPr lang="en-US" sz="19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  <a:sym typeface="+mn-ea"/>
              </a:rPr>
              <a:t>Lokalno, (HDFS) - Parquet</a:t>
            </a: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4.912 redova</a:t>
            </a: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24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Razlika</a:t>
            </a: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CSV vreme &gt; Parquet</a:t>
            </a: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HDFS &gt; Lokalno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Lokalno izvršavanje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Ograničen memorijskim resursima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Single-threaded I/O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Brže za male dataset-e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Debugging olakšano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Cluster izvršavanje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Horizontal skalabilnost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Paralelna obrada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Distribuirano skladištenje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Shuffle overhead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324" y="6111954"/>
            <a:ext cx="13259753" cy="1051679"/>
          </a:xfrm>
          <a:prstGeom prst="roundRect">
            <a:avLst>
              <a:gd name="adj" fmla="val 7820"/>
            </a:avLst>
          </a:prstGeom>
          <a:solidFill>
            <a:srgbClr val="F3E4BF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063" y="6391037"/>
            <a:ext cx="244673" cy="19573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1475" y="6329839"/>
            <a:ext cx="12427863" cy="5838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</a:t>
            </a:r>
            <a:r>
              <a:rPr lang="en-US" sz="1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I/O overhead i shuffle operacije dominiraju vremenom izvršavanja na cluster-u, ali paralelizam omogućava obradu velikih dataset-a koji ne mogu ući u memoriju.</a:t>
            </a: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2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11s, 9S, 11S, (13s, 17s, 15s )</a:t>
            </a:r>
            <a:endParaRPr lang="en-US" sz="16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Neki primeri output-a: Lokalno vs Cluster</a:t>
            </a:r>
            <a:endParaRPr lang="en-US" sz="3600" dirty="0">
              <a:solidFill>
                <a:srgbClr val="5C4E3D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(CSV vs Parquet)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8405" y="2832735"/>
            <a:ext cx="5249545" cy="368998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815" y="2113915"/>
            <a:ext cx="6000750" cy="5229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725567"/>
            <a:ext cx="9180433" cy="6542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Format Poređenje: CSV vs Parquet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2711" y="1766292"/>
            <a:ext cx="13164979" cy="3999071"/>
          </a:xfrm>
          <a:prstGeom prst="roundRect">
            <a:avLst>
              <a:gd name="adj" fmla="val 219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331" y="1773912"/>
            <a:ext cx="13149739" cy="5691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949762" y="1897380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Karakteristika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41006" y="1897380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CSV (Row-based)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72099" y="1897380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Parquet (Column-based)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331" y="2343031"/>
            <a:ext cx="13149739" cy="5691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949762" y="2466499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Struktura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41006" y="2466499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Redovi jedan za drugim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72099" y="2466499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Kolone odvojeno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331" y="2912150"/>
            <a:ext cx="13149739" cy="5691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49762" y="3035618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Kompresija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41006" y="3035618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Bez kompresije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72099" y="3035618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Visoka (snappy/gzip)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331" y="3481268"/>
            <a:ext cx="13149739" cy="5691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49762" y="3604736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I/O efikasnost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41006" y="3604736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Čita sve kolone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2099" y="3604736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Čita samo potrebne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331" y="4050387"/>
            <a:ext cx="13149739" cy="5691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49762" y="4173855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optimizacije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41006" y="4173855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Ograničene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72099" y="4173855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predicate pushdown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0331" y="4619506"/>
            <a:ext cx="13149739" cy="5691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949762" y="4742974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Veličina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41006" y="4742974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Veća (~1GB+)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72099" y="4742974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Manja (~300MB)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0331" y="5188625"/>
            <a:ext cx="13149739" cy="5691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949762" y="5312093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Agregacije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41006" y="5312093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Sporije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72099" y="5312093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Optimizovane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2711" y="5982772"/>
            <a:ext cx="6485811" cy="1521143"/>
          </a:xfrm>
          <a:prstGeom prst="roundRect">
            <a:avLst>
              <a:gd name="adj" fmla="val 578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643" y="6199703"/>
            <a:ext cx="2617232" cy="3270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Parquet prednosti</a:t>
            </a:r>
            <a:endParaRPr lang="en-US" sz="2050" dirty="0"/>
          </a:p>
        </p:txBody>
      </p:sp>
      <p:sp>
        <p:nvSpPr>
          <p:cNvPr id="34" name="Text 32"/>
          <p:cNvSpPr/>
          <p:nvPr/>
        </p:nvSpPr>
        <p:spPr>
          <a:xfrm>
            <a:off x="949643" y="6642616"/>
            <a:ext cx="6051947" cy="6443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Columnar storage, kompresija, predicate pushdown, brže učitavanje u Spark-u, manje prostora na disku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11760" y="5982772"/>
            <a:ext cx="6485930" cy="1521143"/>
          </a:xfrm>
          <a:prstGeom prst="roundRect">
            <a:avLst>
              <a:gd name="adj" fmla="val 578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28692" y="6199703"/>
            <a:ext cx="2617232" cy="3270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CSV prednosti</a:t>
            </a:r>
            <a:endParaRPr lang="en-US" sz="2050" dirty="0"/>
          </a:p>
        </p:txBody>
      </p:sp>
      <p:sp>
        <p:nvSpPr>
          <p:cNvPr id="37" name="Text 35"/>
          <p:cNvSpPr/>
          <p:nvPr/>
        </p:nvSpPr>
        <p:spPr>
          <a:xfrm>
            <a:off x="7628692" y="6642616"/>
            <a:ext cx="6052066" cy="6443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Čitljiv, lako parsiranje, široka kompatibilnost, jednostavno debugovanje</a:t>
            </a:r>
            <a:endParaRPr lang="en-US" sz="16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0" y="7729220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5454" y="892373"/>
            <a:ext cx="7177088" cy="506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Testiranje i Evaluacija Performansi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1725454" y="2822734"/>
            <a:ext cx="11179373" cy="22860"/>
          </a:xfrm>
          <a:prstGeom prst="roundRect">
            <a:avLst>
              <a:gd name="adj" fmla="val 297674"/>
            </a:avLst>
          </a:prstGeom>
          <a:solidFill>
            <a:srgbClr val="DDD3BA"/>
          </a:solidFill>
        </p:spPr>
      </p:sp>
      <p:sp>
        <p:nvSpPr>
          <p:cNvPr id="4" name="Shape 2"/>
          <p:cNvSpPr/>
          <p:nvPr/>
        </p:nvSpPr>
        <p:spPr>
          <a:xfrm>
            <a:off x="3906322" y="2336780"/>
            <a:ext cx="22860" cy="486013"/>
          </a:xfrm>
          <a:prstGeom prst="roundRect">
            <a:avLst>
              <a:gd name="adj" fmla="val 297674"/>
            </a:avLst>
          </a:prstGeom>
          <a:solidFill>
            <a:srgbClr val="DDD3BA"/>
          </a:solidFill>
        </p:spPr>
      </p:sp>
      <p:sp>
        <p:nvSpPr>
          <p:cNvPr id="5" name="Shape 3"/>
          <p:cNvSpPr/>
          <p:nvPr/>
        </p:nvSpPr>
        <p:spPr>
          <a:xfrm>
            <a:off x="3735586" y="2640509"/>
            <a:ext cx="364450" cy="364450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96248" y="2670810"/>
            <a:ext cx="243007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905363" y="1629966"/>
            <a:ext cx="2025134" cy="253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Lokalno testiranje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887379" y="1952506"/>
            <a:ext cx="4061103" cy="2221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Mali dataset (~5K redova) za debugging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1128" y="2822674"/>
            <a:ext cx="22860" cy="486013"/>
          </a:xfrm>
          <a:prstGeom prst="roundRect">
            <a:avLst>
              <a:gd name="adj" fmla="val 297674"/>
            </a:avLst>
          </a:prstGeom>
          <a:solidFill>
            <a:srgbClr val="DDD3BA"/>
          </a:solidFill>
        </p:spPr>
      </p:sp>
      <p:sp>
        <p:nvSpPr>
          <p:cNvPr id="10" name="Shape 8"/>
          <p:cNvSpPr/>
          <p:nvPr/>
        </p:nvSpPr>
        <p:spPr>
          <a:xfrm>
            <a:off x="6000393" y="2640509"/>
            <a:ext cx="364450" cy="364450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1055" y="2670810"/>
            <a:ext cx="243007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170051" y="3470791"/>
            <a:ext cx="2025134" cy="253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Docker cluster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52067" y="3793331"/>
            <a:ext cx="4061222" cy="2221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master + worker containers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35935" y="2336780"/>
            <a:ext cx="22860" cy="486013"/>
          </a:xfrm>
          <a:prstGeom prst="roundRect">
            <a:avLst>
              <a:gd name="adj" fmla="val 297674"/>
            </a:avLst>
          </a:prstGeom>
          <a:solidFill>
            <a:srgbClr val="DDD3BA"/>
          </a:solidFill>
        </p:spPr>
      </p:sp>
      <p:sp>
        <p:nvSpPr>
          <p:cNvPr id="15" name="Shape 13"/>
          <p:cNvSpPr/>
          <p:nvPr/>
        </p:nvSpPr>
        <p:spPr>
          <a:xfrm>
            <a:off x="8265200" y="2640509"/>
            <a:ext cx="364450" cy="364450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5862" y="2670810"/>
            <a:ext cx="243007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34858" y="1629966"/>
            <a:ext cx="2025134" cy="253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Execution time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16873" y="1952506"/>
            <a:ext cx="4061222" cy="2221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Merenje vremena izvršavanja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700742" y="2822674"/>
            <a:ext cx="22860" cy="486013"/>
          </a:xfrm>
          <a:prstGeom prst="roundRect">
            <a:avLst>
              <a:gd name="adj" fmla="val 297674"/>
            </a:avLst>
          </a:prstGeom>
          <a:solidFill>
            <a:srgbClr val="DDD3BA"/>
          </a:solidFill>
        </p:spPr>
      </p:sp>
      <p:sp>
        <p:nvSpPr>
          <p:cNvPr id="20" name="Shape 18"/>
          <p:cNvSpPr/>
          <p:nvPr/>
        </p:nvSpPr>
        <p:spPr>
          <a:xfrm>
            <a:off x="10530007" y="2640509"/>
            <a:ext cx="364450" cy="364450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90669" y="2670810"/>
            <a:ext cx="243007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99665" y="3470791"/>
            <a:ext cx="2025134" cy="253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Analiza rezultata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681680" y="3793331"/>
            <a:ext cx="4061222" cy="2221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Identifikacija bottleneck-a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725454" y="4188976"/>
            <a:ext cx="2430185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Posmatranja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725454" y="4666178"/>
            <a:ext cx="11179373" cy="10101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 operacija sporija zbog shuffle overhead-a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Stats optimizovan kroz paralelne agregacije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Parquet smanjuje scan vreme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I/O operacije dominiraju izvršavanjem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725454" y="5849779"/>
            <a:ext cx="2430185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Docker arhitektura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725454" y="6326981"/>
            <a:ext cx="11179373" cy="10101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master container (port 8080)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worker containers (više instanci)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Zajednička Docker mreža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volume za dataset</a:t>
            </a:r>
            <a:endParaRPr lang="en-US" sz="12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0" y="779335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31575" y="1661160"/>
            <a:ext cx="4706183" cy="397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Zaključak i Dalje Mogućnosti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931575" y="2165509"/>
            <a:ext cx="4091107" cy="1281113"/>
          </a:xfrm>
          <a:prstGeom prst="roundRect">
            <a:avLst>
              <a:gd name="adj" fmla="val 41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66353" y="2300288"/>
            <a:ext cx="381476" cy="381476"/>
          </a:xfrm>
          <a:prstGeom prst="roundRect">
            <a:avLst>
              <a:gd name="adj" fmla="val 23967656"/>
            </a:avLst>
          </a:prstGeom>
          <a:solidFill>
            <a:srgbClr val="B88E23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1248" y="2405182"/>
            <a:ext cx="171688" cy="1716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66353" y="2753082"/>
            <a:ext cx="1589842" cy="198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Implementirano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066353" y="2994422"/>
            <a:ext cx="3821549" cy="3174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Distribuirana batch obrada, Spark + HDFS integracija, data cleaning pipeline, Parquet optimizacija, performans testiranje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0094000" y="2165509"/>
            <a:ext cx="4091226" cy="1281113"/>
          </a:xfrm>
          <a:prstGeom prst="roundRect">
            <a:avLst>
              <a:gd name="adj" fmla="val 41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228778" y="2300288"/>
            <a:ext cx="381476" cy="381476"/>
          </a:xfrm>
          <a:prstGeom prst="roundRect">
            <a:avLst>
              <a:gd name="adj" fmla="val 23967656"/>
            </a:avLst>
          </a:prstGeom>
          <a:solidFill>
            <a:srgbClr val="B88E23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3673" y="2405182"/>
            <a:ext cx="171688" cy="1716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28778" y="2753082"/>
            <a:ext cx="1589842" cy="198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Optimizacije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0228778" y="2994422"/>
            <a:ext cx="3821668" cy="158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Columnar format, paralelna obrada, fault tolerance, data locality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931575" y="3517940"/>
            <a:ext cx="8253651" cy="1122402"/>
          </a:xfrm>
          <a:prstGeom prst="roundRect">
            <a:avLst>
              <a:gd name="adj" fmla="val 476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066353" y="3652718"/>
            <a:ext cx="381476" cy="381476"/>
          </a:xfrm>
          <a:prstGeom prst="roundRect">
            <a:avLst>
              <a:gd name="adj" fmla="val 23967656"/>
            </a:avLst>
          </a:prstGeom>
          <a:solidFill>
            <a:srgbClr val="B88E23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1248" y="3757613"/>
            <a:ext cx="171688" cy="1716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66353" y="4105513"/>
            <a:ext cx="1589842" cy="198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Skalabilnost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066353" y="4346853"/>
            <a:ext cx="7984093" cy="158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Horizontalno širenje na veće klustere, processing velikih dataset-a u prihvatljivom vremenu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931575" y="4747260"/>
            <a:ext cx="1907858" cy="238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Dalje mogućnosti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931575" y="5092541"/>
            <a:ext cx="8253651" cy="10766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Skaliranje na 100M+ redova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tuning (spark.executor.memory)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Additional statistical analyses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visualization (matplotlib/seaborn)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Streaming processing (Structured Streaming)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pipeline (MLlib)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122313" y="6329482"/>
            <a:ext cx="8062913" cy="158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"Apache Spark omogućava skalabilnu i efikasnu obradu velikih dataset-a kroz distribuiranu arhitekturu."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931575" y="6249353"/>
            <a:ext cx="15240" cy="318968"/>
          </a:xfrm>
          <a:prstGeom prst="rect">
            <a:avLst/>
          </a:prstGeom>
          <a:solidFill>
            <a:srgbClr val="B88E23"/>
          </a:solidFill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0" y="773112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5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5384</Words>
  <Application>WPS Presentation</Application>
  <PresentationFormat>On-screen Show (16:9)</PresentationFormat>
  <Paragraphs>333</Paragraphs>
  <Slides>14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6" baseType="lpstr">
      <vt:lpstr>Arial</vt:lpstr>
      <vt:lpstr>SimSun</vt:lpstr>
      <vt:lpstr>Wingdings</vt:lpstr>
      <vt:lpstr>Libre Baskerville</vt:lpstr>
      <vt:lpstr>Libre Baskerville</vt:lpstr>
      <vt:lpstr>Libre Baskerville</vt:lpstr>
      <vt:lpstr>DM Sans</vt:lpstr>
      <vt:lpstr>DM Sans</vt:lpstr>
      <vt:lpstr>DM Sans</vt:lpstr>
      <vt:lpstr>Libre Baskerville Light</vt:lpstr>
      <vt:lpstr>Segoe Print</vt:lpstr>
      <vt:lpstr>Libre Baskerville Light</vt:lpstr>
      <vt:lpstr>Libre Baskerville Light</vt:lpstr>
      <vt:lpstr>Consolas</vt:lpstr>
      <vt:lpstr>Consolas</vt:lpstr>
      <vt:lpstr>Consolas</vt:lpstr>
      <vt:lpstr>Calibri</vt:lpstr>
      <vt:lpstr>Microsoft YaHei</vt:lpstr>
      <vt:lpstr>Arial Unicode MS</vt:lpstr>
      <vt:lpstr>MingLiU-ExtB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Sajko</cp:lastModifiedBy>
  <cp:revision>2</cp:revision>
  <dcterms:created xsi:type="dcterms:W3CDTF">2026-02-24T08:46:00Z</dcterms:created>
  <dcterms:modified xsi:type="dcterms:W3CDTF">2026-02-24T09:32:19Z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31B3735FAFBE449681F65F51B50F3F93_12</vt:lpwstr>
  </property>
  <property fmtid="{D5CDD505-2E9C-101B-9397-08002B2CF9AE}" pid="3" name="KSOProductBuildVer">
    <vt:lpwstr>1033-12.2.0.23196</vt:lpwstr>
  </property>
</Properties>
</file>