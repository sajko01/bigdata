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0.svg" ContentType="image/svg+xml"/>
  <Override PartName="/ppt/media/image21.svg" ContentType="image/svg+xml"/>
  <Override PartName="/ppt/media/image22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8" r:id="rId9"/>
    <p:sldId id="269" r:id="rId10"/>
    <p:sldId id="260" r:id="rId11"/>
    <p:sldId id="270" r:id="rId12"/>
    <p:sldId id="261" r:id="rId13"/>
    <p:sldId id="271" r:id="rId14"/>
    <p:sldId id="272" r:id="rId15"/>
    <p:sldId id="273" r:id="rId16"/>
    <p:sldId id="275" r:id="rId17"/>
    <p:sldId id="262" r:id="rId18"/>
    <p:sldId id="276" r:id="rId19"/>
    <p:sldId id="263" r:id="rId20"/>
    <p:sldId id="264" r:id="rId21"/>
    <p:sldId id="265" r:id="rId22"/>
  </p:sldIdLst>
  <p:sldSz cx="14630400" cy="8229600"/>
  <p:notesSz cx="8229600" cy="14630400"/>
  <p:embeddedFontLst>
    <p:embeddedFont>
      <p:font typeface="Libre Baskerville" panose="02000000000000000000" pitchFamily="34" charset="0"/>
      <p:bold r:id="rId26"/>
    </p:embeddedFont>
    <p:embeddedFont>
      <p:font typeface="Libre Baskerville" panose="02000000000000000000" pitchFamily="34" charset="-122"/>
      <p:bold r:id="rId27"/>
    </p:embeddedFont>
    <p:embeddedFont>
      <p:font typeface="Libre Baskerville" panose="02000000000000000000" pitchFamily="34" charset="-120"/>
      <p:bold r:id="rId28"/>
    </p:embeddedFont>
    <p:embeddedFont>
      <p:font typeface="DM Sans" pitchFamily="34" charset="0"/>
      <p:bold r:id="rId29"/>
    </p:embeddedFont>
    <p:embeddedFont>
      <p:font typeface="DM Sans" pitchFamily="34" charset="-122"/>
      <p:bold r:id="rId30"/>
    </p:embeddedFont>
    <p:embeddedFont>
      <p:font typeface="DM Sans" pitchFamily="34" charset="-120"/>
      <p:bold r:id="rId31"/>
    </p:embeddedFont>
    <p:embeddedFont>
      <p:font typeface="Consolas" panose="020B0609020204030204" pitchFamily="34" charset="0"/>
      <p:regular r:id="rId32"/>
      <p:bold r:id="rId33"/>
      <p:italic r:id="rId34"/>
      <p:boldItalic r:id="rId35"/>
    </p:embeddedFont>
    <p:embeddedFont>
      <p:font typeface="Consolas" panose="020B0609020204030204" pitchFamily="34" charset="-122"/>
      <p:regular r:id="rId36"/>
    </p:embeddedFont>
    <p:embeddedFont>
      <p:font typeface="Consolas" panose="020B0609020204030204" pitchFamily="34" charset="-120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font" Target="fonts/font16.fntdata"/><Relationship Id="rId40" Type="http://schemas.openxmlformats.org/officeDocument/2006/relationships/font" Target="fonts/font15.fntdata"/><Relationship Id="rId4" Type="http://schemas.openxmlformats.org/officeDocument/2006/relationships/slide" Target="slides/slide1.xml"/><Relationship Id="rId39" Type="http://schemas.openxmlformats.org/officeDocument/2006/relationships/font" Target="fonts/font14.fntdata"/><Relationship Id="rId38" Type="http://schemas.openxmlformats.org/officeDocument/2006/relationships/font" Target="fonts/font13.fntdata"/><Relationship Id="rId37" Type="http://schemas.openxmlformats.org/officeDocument/2006/relationships/font" Target="fonts/font12.fntdata"/><Relationship Id="rId36" Type="http://schemas.openxmlformats.org/officeDocument/2006/relationships/font" Target="fonts/font11.fntdata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9.svg"/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9.xml"/><Relationship Id="rId12" Type="http://schemas.openxmlformats.org/officeDocument/2006/relationships/image" Target="../media/image11.png"/><Relationship Id="rId11" Type="http://schemas.openxmlformats.org/officeDocument/2006/relationships/tags" Target="../tags/tag10.xml"/><Relationship Id="rId10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9.xml"/><Relationship Id="rId12" Type="http://schemas.openxmlformats.org/officeDocument/2006/relationships/image" Target="../media/image12.png"/><Relationship Id="rId11" Type="http://schemas.openxmlformats.org/officeDocument/2006/relationships/tags" Target="../tags/tag20.xml"/><Relationship Id="rId10" Type="http://schemas.openxmlformats.org/officeDocument/2006/relationships/image" Target="../media/image4.png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9.xml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tags" Target="../tags/tag30.xml"/><Relationship Id="rId10" Type="http://schemas.openxmlformats.org/officeDocument/2006/relationships/image" Target="../media/image4.png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20.svg"/><Relationship Id="rId4" Type="http://schemas.openxmlformats.org/officeDocument/2006/relationships/image" Target="../media/image6.png"/><Relationship Id="rId3" Type="http://schemas.openxmlformats.org/officeDocument/2006/relationships/tags" Target="../tags/tag33.xml"/><Relationship Id="rId28" Type="http://schemas.openxmlformats.org/officeDocument/2006/relationships/notesSlide" Target="../notesSlides/notesSlide9.x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4.png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image" Target="../media/image22.svg"/><Relationship Id="rId20" Type="http://schemas.openxmlformats.org/officeDocument/2006/relationships/tags" Target="../tags/tag47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image" Target="../media/image21.svg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tags" Target="../tags/tag61.xml"/><Relationship Id="rId10" Type="http://schemas.openxmlformats.org/officeDocument/2006/relationships/image" Target="../media/image4.png"/><Relationship Id="rId1" Type="http://schemas.openxmlformats.org/officeDocument/2006/relationships/tags" Target="../tags/tag5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tags" Target="../tags/tag71.xml"/><Relationship Id="rId10" Type="http://schemas.openxmlformats.org/officeDocument/2006/relationships/image" Target="../media/image4.png"/><Relationship Id="rId1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tags" Target="../tags/tag81.xml"/><Relationship Id="rId10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tags" Target="../tags/tag91.xml"/><Relationship Id="rId10" Type="http://schemas.openxmlformats.org/officeDocument/2006/relationships/image" Target="../media/image4.png"/><Relationship Id="rId1" Type="http://schemas.openxmlformats.org/officeDocument/2006/relationships/tags" Target="../tags/tag8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101.xml"/><Relationship Id="rId11" Type="http://schemas.openxmlformats.org/officeDocument/2006/relationships/image" Target="../media/image4.png"/><Relationship Id="rId10" Type="http://schemas.openxmlformats.org/officeDocument/2006/relationships/image" Target="../media/image35.png"/><Relationship Id="rId1" Type="http://schemas.openxmlformats.org/officeDocument/2006/relationships/tags" Target="../tags/tag9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111.xml"/><Relationship Id="rId10" Type="http://schemas.openxmlformats.org/officeDocument/2006/relationships/image" Target="../media/image4.png"/><Relationship Id="rId1" Type="http://schemas.openxmlformats.org/officeDocument/2006/relationships/tags" Target="../tags/tag10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9.svg"/><Relationship Id="rId4" Type="http://schemas.openxmlformats.org/officeDocument/2006/relationships/image" Target="../media/image38.svg"/><Relationship Id="rId3" Type="http://schemas.openxmlformats.org/officeDocument/2006/relationships/image" Target="../media/image37.svg"/><Relationship Id="rId2" Type="http://schemas.openxmlformats.org/officeDocument/2006/relationships/image" Target="../media/image6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50" y="2287270"/>
            <a:ext cx="7733665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Distribuirana Batch Obrada Velikog Dataset-a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95832"/>
            <a:ext cx="73424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Implementacija korišćenjem Apache Spark i HDFS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490323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Projekat se fokusira na obradu i analizu velikog dataset-a (~7+ miliona redova) korišćenjem distribuirane arhitekture Apache Spark i Hadoop HDFS. Implementirane su filter, sort i statističke funkcionalnosti sa evaluacijom performansi između različitih formata i konfiguracija.</a:t>
            </a:r>
            <a:endParaRPr lang="en-US" sz="1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940" y="778065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1281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Arhitektura Spark Cluster-a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05814"/>
            <a:ext cx="3682603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Komponente sistema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357920"/>
            <a:ext cx="4717971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Distribuirana arhitektura omogućava paralelnu obradu velikih količina podataka kroz više računara povezanih u klaster. Spark Driver inicijalizuje zadatke, dok Executors na worker nodovima izvršavaju operacije u paralelnim partitijama.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739408"/>
            <a:ext cx="4717971" cy="16894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Driver proces (master)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Executor procesi (workers)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manager (Standalone/Docker)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HDFS za distribuirano skladištenje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559183" y="2705814"/>
            <a:ext cx="2284928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Tehnologije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1559183" y="3357920"/>
            <a:ext cx="2284928" cy="2415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Apache Spark (PySpark API)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Hadoop HDFS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Docker-based cluster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3.x</a:t>
            </a:r>
            <a:endParaRPr lang="en-US" sz="17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0" y="7768590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326" y="1059656"/>
            <a:ext cx="4718566" cy="530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Dataset Karakteristike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62326" y="1843445"/>
            <a:ext cx="3817382" cy="1805464"/>
          </a:xfrm>
          <a:prstGeom prst="roundRect">
            <a:avLst>
              <a:gd name="adj" fmla="val 39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39491" y="2020610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B88E23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9389" y="2160508"/>
            <a:ext cx="228957" cy="228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91" y="2656284"/>
            <a:ext cx="2120503" cy="265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7.368.000 redova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39491" y="2997398"/>
            <a:ext cx="3463052" cy="474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dataset veličine ~1GB sa dnevnim zapisima korisnika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06509" y="1843445"/>
            <a:ext cx="3817382" cy="1805464"/>
          </a:xfrm>
          <a:prstGeom prst="roundRect">
            <a:avLst>
              <a:gd name="adj" fmla="val 39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83674" y="2020610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B88E23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3573" y="2160508"/>
            <a:ext cx="228957" cy="2289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83674" y="2656284"/>
            <a:ext cx="2120503" cy="265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10 atributa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583674" y="2997398"/>
            <a:ext cx="3463052" cy="474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Kombinacija numeričkih i kategorijalnih podataka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350693" y="1843445"/>
            <a:ext cx="3817382" cy="1805464"/>
          </a:xfrm>
          <a:prstGeom prst="roundRect">
            <a:avLst>
              <a:gd name="adj" fmla="val 394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27858" y="2020610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B88E23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7756" y="2160508"/>
            <a:ext cx="228957" cy="2289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27858" y="2656284"/>
            <a:ext cx="2120503" cy="265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Time-series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9527858" y="2997398"/>
            <a:ext cx="3463052" cy="474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Dnevni zapisi sa temporalnom komponentom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2326" y="3839170"/>
            <a:ext cx="2544723" cy="3180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Atributi dataset-a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1462326" y="4347448"/>
            <a:ext cx="11705749" cy="2442686"/>
          </a:xfrm>
          <a:prstGeom prst="roundRect">
            <a:avLst>
              <a:gd name="adj" fmla="val 291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469946" y="4355068"/>
            <a:ext cx="11690509" cy="404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6"/>
          <p:cNvSpPr/>
          <p:nvPr/>
        </p:nvSpPr>
        <p:spPr>
          <a:xfrm>
            <a:off x="1639610" y="4438769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Kategorija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50525" y="4438769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Atributi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469946" y="4759643"/>
            <a:ext cx="11690509" cy="404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1639610" y="4843343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Identifikatori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150525" y="4843343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uid, day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1469946" y="5164217"/>
            <a:ext cx="11690509" cy="404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2"/>
          <p:cNvSpPr/>
          <p:nvPr/>
        </p:nvSpPr>
        <p:spPr>
          <a:xfrm>
            <a:off x="1639610" y="5247918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Mentalno zdravlje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150525" y="5247918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stress, phq4_score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1469946" y="5568791"/>
            <a:ext cx="11690509" cy="404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0" name="Text 25"/>
          <p:cNvSpPr/>
          <p:nvPr/>
        </p:nvSpPr>
        <p:spPr>
          <a:xfrm>
            <a:off x="1639610" y="5652492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Fizička aktivnost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150525" y="5652492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social_level, sleep_duration, daily_steps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1469946" y="5973366"/>
            <a:ext cx="11690509" cy="40457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3" name="Text 28"/>
          <p:cNvSpPr/>
          <p:nvPr/>
        </p:nvSpPr>
        <p:spPr>
          <a:xfrm>
            <a:off x="1639610" y="6057067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Demografski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150525" y="6057067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gender, race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1469946" y="6377940"/>
            <a:ext cx="11690509" cy="40457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6" name="Text 31"/>
          <p:cNvSpPr/>
          <p:nvPr/>
        </p:nvSpPr>
        <p:spPr>
          <a:xfrm>
            <a:off x="1639610" y="6461641"/>
            <a:ext cx="316420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COVID-19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5150525" y="6461641"/>
            <a:ext cx="7840385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covid_total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1462326" y="6932771"/>
            <a:ext cx="11705749" cy="237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highlight>
                  <a:srgbClr val="B88E23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Big Data scenarij: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Veliki obim podataka, potreba za distribuiranom obradom, nemogućnost efikasne obrade klasičnim Python skriptama.</a:t>
            </a:r>
            <a:endParaRPr lang="en-US" sz="13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115" y="780859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709374"/>
            <a:ext cx="7663696" cy="6405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Čišćenje i Priprema Podataka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471" y="1720453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7471" y="2045970"/>
            <a:ext cx="427493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5" name="Text 3"/>
          <p:cNvSpPr/>
          <p:nvPr/>
        </p:nvSpPr>
        <p:spPr>
          <a:xfrm>
            <a:off x="717471" y="2194084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Preuzimanje CSV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7471" y="2625447"/>
            <a:ext cx="4274939" cy="624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Originalni dataset college.csv (sa raznim nekorisnim podacima)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77671" y="1720453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77671" y="2045970"/>
            <a:ext cx="427493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9" name="Text 7"/>
          <p:cNvSpPr/>
          <p:nvPr/>
        </p:nvSpPr>
        <p:spPr>
          <a:xfrm>
            <a:off x="5177671" y="2194084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77671" y="2625447"/>
            <a:ext cx="4274939" cy="624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Uklanjanje null vrednosti, castovanje tipova, standardizacija datuma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37871" y="1720453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37871" y="2045970"/>
            <a:ext cx="4275058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3" name="Text 11"/>
          <p:cNvSpPr/>
          <p:nvPr/>
        </p:nvSpPr>
        <p:spPr>
          <a:xfrm>
            <a:off x="9637871" y="2194084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Selekcija kolona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37871" y="2625447"/>
            <a:ext cx="4275058" cy="6243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Odabir relevantnih atributa za analizu i dupliranje do 1GB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471" y="3588782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7471" y="3914299"/>
            <a:ext cx="650509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7" name="Text 15"/>
          <p:cNvSpPr/>
          <p:nvPr/>
        </p:nvSpPr>
        <p:spPr>
          <a:xfrm>
            <a:off x="717471" y="4062413"/>
            <a:ext cx="2732961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Konverzija u Parquet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471" y="4493776"/>
            <a:ext cx="6505099" cy="3121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storage format sa kompresijom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7831" y="3588782"/>
            <a:ext cx="204907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7831" y="3914299"/>
            <a:ext cx="6505099" cy="2286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21" name="Text 19"/>
          <p:cNvSpPr/>
          <p:nvPr/>
        </p:nvSpPr>
        <p:spPr>
          <a:xfrm>
            <a:off x="7407831" y="4062413"/>
            <a:ext cx="2922151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Organizacija strukture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7831" y="4493776"/>
            <a:ext cx="6505099" cy="3121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I PARQUET fajlovi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7471" y="5168027"/>
            <a:ext cx="13195459" cy="2352199"/>
          </a:xfrm>
          <a:prstGeom prst="roundRect">
            <a:avLst>
              <a:gd name="adj" fmla="val 3660"/>
            </a:avLst>
          </a:prstGeom>
          <a:solidFill>
            <a:srgbClr val="F3E4BF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377" y="5431750"/>
            <a:ext cx="320278" cy="25622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47562" y="5404485"/>
            <a:ext cx="2562463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Zašto Parquet?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47562" y="5910024"/>
            <a:ext cx="12260461" cy="14430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storage optimizovan za analitiku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Visoka kompresija (manje prostora)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Predicate pushdown optimizacija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Brže čitanje u Spark-u</a:t>
            </a:r>
            <a:endParaRPr lang="en-US" sz="16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705" y="778065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Reformatirani podaci, CSV format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5710" y="2427605"/>
            <a:ext cx="8610600" cy="3895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Postavke projekta, docker ps 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160" y="1963420"/>
            <a:ext cx="13347700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139" y="590669"/>
            <a:ext cx="4673679" cy="5790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Integracija sa HDFS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2139" y="1758672"/>
            <a:ext cx="2779514" cy="3474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HDFS komande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922139" y="2276356"/>
            <a:ext cx="4181237" cy="1354693"/>
          </a:xfrm>
          <a:prstGeom prst="roundRect">
            <a:avLst>
              <a:gd name="adj" fmla="val 5745"/>
            </a:avLst>
          </a:prstGeom>
          <a:solidFill>
            <a:srgbClr val="F2F0ED"/>
          </a:solidFill>
        </p:spPr>
      </p:sp>
      <p:sp>
        <p:nvSpPr>
          <p:cNvPr id="5" name="Shape 3"/>
          <p:cNvSpPr/>
          <p:nvPr/>
        </p:nvSpPr>
        <p:spPr>
          <a:xfrm>
            <a:off x="912971" y="2276356"/>
            <a:ext cx="4199573" cy="1354693"/>
          </a:xfrm>
          <a:prstGeom prst="roundRect">
            <a:avLst>
              <a:gd name="adj" fmla="val 2052"/>
            </a:avLst>
          </a:prstGeom>
          <a:solidFill>
            <a:srgbClr val="F2F0ED"/>
          </a:solidFill>
        </p:spPr>
      </p:sp>
      <p:sp>
        <p:nvSpPr>
          <p:cNvPr id="6" name="Text 4"/>
          <p:cNvSpPr/>
          <p:nvPr/>
        </p:nvSpPr>
        <p:spPr>
          <a:xfrm>
            <a:off x="1098233" y="2415302"/>
            <a:ext cx="3829050" cy="10768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hdfs dfs -mkdir /user/student/data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hdfs dfs -put college_clean.parquet 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/user/student/data/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hdfs dfs -ls /user/student/data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22139" y="3801308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HDFS prednosti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2139" y="4242078"/>
            <a:ext cx="4181237" cy="123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Distribuirano skladištenje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Fault tolerance (replikacija blokova)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locality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skalabilnost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957" y="1566982"/>
            <a:ext cx="8152686" cy="400431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39" y="5911810"/>
            <a:ext cx="4261961" cy="7411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7400" y="6804303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HDFS blokovi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07400" y="7184469"/>
            <a:ext cx="3891439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128MB ili 256MB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100" y="5911810"/>
            <a:ext cx="4261961" cy="7411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69362" y="6804303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Spark Executors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369362" y="7184469"/>
            <a:ext cx="3891439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Paralelna obrada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062" y="5911810"/>
            <a:ext cx="4262080" cy="7411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1323" y="6804303"/>
            <a:ext cx="2316242" cy="2894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631323" y="7184469"/>
            <a:ext cx="3891558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Analiza</a:t>
            </a:r>
            <a:endParaRPr lang="en-US" sz="14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773112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Pregled konfiguracije, HDFS 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1718310"/>
            <a:ext cx="12794615" cy="163258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165" y="3444240"/>
            <a:ext cx="12785725" cy="289306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165" y="6297295"/>
            <a:ext cx="12785090" cy="10502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847963"/>
            <a:ext cx="8931593" cy="659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Implementirane Funkcionalnosti</a:t>
            </a:r>
            <a:endParaRPr lang="en-US" sz="41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39140" y="1900952"/>
            <a:ext cx="4252913" cy="4168497"/>
          </a:xfrm>
          <a:prstGeom prst="roundRect">
            <a:avLst>
              <a:gd name="adj" fmla="val 212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62000" y="1923812"/>
            <a:ext cx="4207193" cy="633532"/>
          </a:xfrm>
          <a:prstGeom prst="roundRect">
            <a:avLst>
              <a:gd name="adj" fmla="val 9670"/>
            </a:avLst>
          </a:prstGeom>
          <a:solidFill>
            <a:srgbClr val="F7EDD4"/>
          </a:solidFill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7243" y="2078355"/>
            <a:ext cx="316706" cy="316706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973098" y="2753916"/>
            <a:ext cx="2639735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FILTER</a:t>
            </a:r>
            <a:endParaRPr lang="en-US" sz="2050" dirty="0"/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973098" y="3201710"/>
            <a:ext cx="3784997" cy="65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Filtriranje redova po zadatom atributu i vrednosti</a:t>
            </a:r>
            <a:endParaRPr lang="en-US" sz="1650" dirty="0"/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973098" y="3972044"/>
            <a:ext cx="3784997" cy="1024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spark-submit spark_analysis_parquet.py filter stress 3</a:t>
            </a:r>
            <a:endParaRPr lang="en-US" sz="1650" dirty="0"/>
          </a:p>
        </p:txBody>
      </p:sp>
      <p:sp>
        <p:nvSpPr>
          <p:cNvPr id="9" name="Text 6"/>
          <p:cNvSpPr/>
          <p:nvPr>
            <p:custDataLst>
              <p:tags r:id="rId9"/>
            </p:custDataLst>
          </p:nvPr>
        </p:nvSpPr>
        <p:spPr>
          <a:xfrm>
            <a:off x="973098" y="5114330"/>
            <a:ext cx="3784997" cy="7211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Dinamički argumenti kroz CLI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Prebrojavanje rezultata</a:t>
            </a:r>
            <a:endParaRPr lang="en-US" sz="1650" dirty="0"/>
          </a:p>
        </p:txBody>
      </p:sp>
      <p:sp>
        <p:nvSpPr>
          <p:cNvPr id="10" name="Shape 7"/>
          <p:cNvSpPr/>
          <p:nvPr>
            <p:custDataLst>
              <p:tags r:id="rId10"/>
            </p:custDataLst>
          </p:nvPr>
        </p:nvSpPr>
        <p:spPr>
          <a:xfrm>
            <a:off x="5188625" y="1900952"/>
            <a:ext cx="4253032" cy="4168497"/>
          </a:xfrm>
          <a:prstGeom prst="roundRect">
            <a:avLst>
              <a:gd name="adj" fmla="val 212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11"/>
            </p:custDataLst>
          </p:nvPr>
        </p:nvSpPr>
        <p:spPr>
          <a:xfrm>
            <a:off x="5211485" y="1923812"/>
            <a:ext cx="4207312" cy="633532"/>
          </a:xfrm>
          <a:prstGeom prst="roundRect">
            <a:avLst>
              <a:gd name="adj" fmla="val 9670"/>
            </a:avLst>
          </a:prstGeom>
          <a:solidFill>
            <a:srgbClr val="F7EDD4"/>
          </a:solidFill>
        </p:spPr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56728" y="2078355"/>
            <a:ext cx="316706" cy="316706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5422583" y="2753916"/>
            <a:ext cx="2639735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SORT</a:t>
            </a:r>
            <a:endParaRPr lang="en-US" sz="2050" dirty="0"/>
          </a:p>
        </p:txBody>
      </p:sp>
      <p:sp>
        <p:nvSpPr>
          <p:cNvPr id="14" name="Text 10"/>
          <p:cNvSpPr/>
          <p:nvPr>
            <p:custDataLst>
              <p:tags r:id="rId15"/>
            </p:custDataLst>
          </p:nvPr>
        </p:nvSpPr>
        <p:spPr>
          <a:xfrm>
            <a:off x="5422583" y="3201710"/>
            <a:ext cx="3785116" cy="65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Sortiranje po zadatoj koloni u ascending ili descending redosledu</a:t>
            </a:r>
            <a:endParaRPr lang="en-US" sz="1650" dirty="0"/>
          </a:p>
        </p:txBody>
      </p:sp>
      <p:sp>
        <p:nvSpPr>
          <p:cNvPr id="15" name="Text 11"/>
          <p:cNvSpPr/>
          <p:nvPr>
            <p:custDataLst>
              <p:tags r:id="rId16"/>
            </p:custDataLst>
          </p:nvPr>
        </p:nvSpPr>
        <p:spPr>
          <a:xfrm>
            <a:off x="5422583" y="3972044"/>
            <a:ext cx="3785116" cy="1024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spark-submit spark_analysis_parquet.py sort stress desc</a:t>
            </a:r>
            <a:endParaRPr lang="en-US" sz="1650" dirty="0"/>
          </a:p>
        </p:txBody>
      </p:sp>
      <p:sp>
        <p:nvSpPr>
          <p:cNvPr id="16" name="Text 12"/>
          <p:cNvSpPr/>
          <p:nvPr>
            <p:custDataLst>
              <p:tags r:id="rId17"/>
            </p:custDataLst>
          </p:nvPr>
        </p:nvSpPr>
        <p:spPr>
          <a:xfrm>
            <a:off x="5422583" y="5114330"/>
            <a:ext cx="3785116" cy="7211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Shuffle operacija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Veće potrošnje resursa</a:t>
            </a:r>
            <a:endParaRPr lang="en-US" sz="1650" dirty="0"/>
          </a:p>
        </p:txBody>
      </p:sp>
      <p:sp>
        <p:nvSpPr>
          <p:cNvPr id="17" name="Shape 13"/>
          <p:cNvSpPr/>
          <p:nvPr>
            <p:custDataLst>
              <p:tags r:id="rId18"/>
            </p:custDataLst>
          </p:nvPr>
        </p:nvSpPr>
        <p:spPr>
          <a:xfrm>
            <a:off x="9638228" y="1900952"/>
            <a:ext cx="4253032" cy="4168497"/>
          </a:xfrm>
          <a:prstGeom prst="roundRect">
            <a:avLst>
              <a:gd name="adj" fmla="val 212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8" name="Shape 14"/>
          <p:cNvSpPr/>
          <p:nvPr>
            <p:custDataLst>
              <p:tags r:id="rId19"/>
            </p:custDataLst>
          </p:nvPr>
        </p:nvSpPr>
        <p:spPr>
          <a:xfrm>
            <a:off x="9661088" y="1923812"/>
            <a:ext cx="4207312" cy="633532"/>
          </a:xfrm>
          <a:prstGeom prst="roundRect">
            <a:avLst>
              <a:gd name="adj" fmla="val 9670"/>
            </a:avLst>
          </a:prstGeom>
          <a:solidFill>
            <a:srgbClr val="F7EDD4"/>
          </a:solidFill>
        </p:spPr>
      </p:sp>
      <p:pic>
        <p:nvPicPr>
          <p:cNvPr id="19" name="Image 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06332" y="2078355"/>
            <a:ext cx="316706" cy="316706"/>
          </a:xfrm>
          <a:prstGeom prst="rect">
            <a:avLst/>
          </a:prstGeom>
        </p:spPr>
      </p:pic>
      <p:sp>
        <p:nvSpPr>
          <p:cNvPr id="20" name="Text 15"/>
          <p:cNvSpPr/>
          <p:nvPr>
            <p:custDataLst>
              <p:tags r:id="rId22"/>
            </p:custDataLst>
          </p:nvPr>
        </p:nvSpPr>
        <p:spPr>
          <a:xfrm>
            <a:off x="9872186" y="2753916"/>
            <a:ext cx="2639735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STATS</a:t>
            </a:r>
            <a:endParaRPr lang="en-US" sz="2050" dirty="0"/>
          </a:p>
        </p:txBody>
      </p:sp>
      <p:sp>
        <p:nvSpPr>
          <p:cNvPr id="21" name="Text 16"/>
          <p:cNvSpPr/>
          <p:nvPr>
            <p:custDataLst>
              <p:tags r:id="rId23"/>
            </p:custDataLst>
          </p:nvPr>
        </p:nvSpPr>
        <p:spPr>
          <a:xfrm>
            <a:off x="9872186" y="3201710"/>
            <a:ext cx="3785116" cy="65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Grupisana statistička analiza korišćenjem GroupBy</a:t>
            </a:r>
            <a:endParaRPr lang="en-US" sz="1650" dirty="0"/>
          </a:p>
        </p:txBody>
      </p:sp>
      <p:sp>
        <p:nvSpPr>
          <p:cNvPr id="22" name="Text 17"/>
          <p:cNvSpPr/>
          <p:nvPr>
            <p:custDataLst>
              <p:tags r:id="rId24"/>
            </p:custDataLst>
          </p:nvPr>
        </p:nvSpPr>
        <p:spPr>
          <a:xfrm>
            <a:off x="9872186" y="3972044"/>
            <a:ext cx="3785116" cy="10244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spark-submit spark_analysis_parquet.py stats stress gender</a:t>
            </a:r>
            <a:endParaRPr lang="en-US" sz="1650" dirty="0"/>
          </a:p>
        </p:txBody>
      </p:sp>
      <p:sp>
        <p:nvSpPr>
          <p:cNvPr id="23" name="Text 18"/>
          <p:cNvSpPr/>
          <p:nvPr>
            <p:custDataLst>
              <p:tags r:id="rId25"/>
            </p:custDataLst>
          </p:nvPr>
        </p:nvSpPr>
        <p:spPr>
          <a:xfrm>
            <a:off x="9872186" y="5114330"/>
            <a:ext cx="3785116" cy="7211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min, max, avg, stddev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sum, count, median, Q1, Q3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739140" y="6364367"/>
            <a:ext cx="6190059" cy="3960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Dinamička SparkSession inicijalizacija</a:t>
            </a:r>
            <a:endParaRPr lang="en-US" sz="2450" dirty="0"/>
          </a:p>
        </p:txBody>
      </p:sp>
      <p:sp>
        <p:nvSpPr>
          <p:cNvPr id="25" name="Text 20"/>
          <p:cNvSpPr/>
          <p:nvPr/>
        </p:nvSpPr>
        <p:spPr>
          <a:xfrm>
            <a:off x="739140" y="7055287"/>
            <a:ext cx="13152120" cy="326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 URL definisan u kodu, mogućnost pokretanja lokalno ili na cluster-u.</a:t>
            </a:r>
            <a:endParaRPr lang="en-US" sz="16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512040" y="7768590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Rezultati lokalno, CSV fajl (filter,sort,stats)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165" y="1790700"/>
            <a:ext cx="7185025" cy="237426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165" y="4201160"/>
            <a:ext cx="7185025" cy="209423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165" y="6331585"/>
            <a:ext cx="7185025" cy="1217295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8625205" y="260159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FILTER, 21S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8625205" y="500634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SORT, 22S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8736965" y="677227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STATS, 27S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Rezultati lokalno, PARQUET fajl (filter,sort,stats)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23" name="Text Box 22"/>
          <p:cNvSpPr txBox="1"/>
          <p:nvPr/>
        </p:nvSpPr>
        <p:spPr>
          <a:xfrm>
            <a:off x="8625205" y="260159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FILTER, 19 S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8625205" y="500634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SORT, 18 S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8736965" y="677227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STATS, 19 S</a:t>
            </a:r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165" y="1656080"/>
            <a:ext cx="7334250" cy="245554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165" y="4201160"/>
            <a:ext cx="7350760" cy="24079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165" y="6697345"/>
            <a:ext cx="7351395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Rezultati Spark, CSV fajl (filter,sort,stats)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23" name="Text Box 22"/>
          <p:cNvSpPr txBox="1"/>
          <p:nvPr/>
        </p:nvSpPr>
        <p:spPr>
          <a:xfrm>
            <a:off x="8625205" y="260159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FILTER, 35 S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8625205" y="500634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SORT, 52 S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8736965" y="677227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STATS, 90 S</a:t>
            </a:r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165" y="1677670"/>
            <a:ext cx="7352030" cy="22294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165" y="3955415"/>
            <a:ext cx="7399020" cy="236347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165" y="6367145"/>
            <a:ext cx="7362190" cy="1565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Rezultati Spark, PARQUET fajl (filter,sort,stats)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23" name="Text Box 22"/>
          <p:cNvSpPr txBox="1"/>
          <p:nvPr/>
        </p:nvSpPr>
        <p:spPr>
          <a:xfrm>
            <a:off x="8625205" y="260159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FILTER, 13 S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8625205" y="500634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SORT, 12 S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8736965" y="677227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STATS, 49 S</a:t>
            </a:r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445" y="1793875"/>
            <a:ext cx="7473315" cy="233489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445" y="4201160"/>
            <a:ext cx="7473315" cy="215265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6445" y="6426200"/>
            <a:ext cx="7473950" cy="1443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Performanse: Lokalno vs Cluster(CSV vs Parquet)</a:t>
            </a:r>
            <a:endParaRPr lang="en-US" sz="385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21s, 22S, 27S, (35s, 52s, 90s )</a:t>
            </a:r>
            <a:endParaRPr lang="en-US" sz="16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filter,sort, stats</a:t>
            </a:r>
            <a:endParaRPr lang="en-US" sz="19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Lokalno, (HDFS) - CSV </a:t>
            </a:r>
            <a:endParaRPr lang="en-US" sz="19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7.368.000 redova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filter,sort, stats</a:t>
            </a:r>
            <a:endParaRPr lang="en-US" sz="19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Lokalno, (HDFS) - Parquet</a:t>
            </a: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4.912 redova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Razlika</a:t>
            </a: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CSV vreme &gt; Parquet</a:t>
            </a: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Lokalno izvršavanje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Ograničen memorijskim resursima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Single-threaded I/O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Brže za male dataset-e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Debugging olakšano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Cluster izvršavanje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61659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skalabilnost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Paralelna obrada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Distribuirano skladištenje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Shuffle overhead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324" y="6111954"/>
            <a:ext cx="13259753" cy="1051679"/>
          </a:xfrm>
          <a:prstGeom prst="roundRect">
            <a:avLst>
              <a:gd name="adj" fmla="val 7820"/>
            </a:avLst>
          </a:prstGeom>
          <a:solidFill>
            <a:srgbClr val="F3E4BF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063" y="6391037"/>
            <a:ext cx="244673" cy="19573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1475" y="6329839"/>
            <a:ext cx="12427863" cy="5838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I/O overhead i shuffle operacije dominiraju vremenom izvršavanja na cluster-u, ali paralelizam omogućava obradu velikih dataset-a koji ne mogu ući u memoriju.</a:t>
            </a: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2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19s, 18S, 19S, (13s, 12s, 49s )</a:t>
            </a:r>
            <a:endParaRPr lang="en-US" sz="16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1065967"/>
            <a:ext cx="12251888" cy="6119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Rezultati Spark, PARQUET fajl (filter,sort,stats) </a:t>
            </a:r>
            <a:endParaRPr lang="en-US" sz="36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8532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381006" y="2786420"/>
            <a:ext cx="2887742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85324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175647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091357" y="278642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175647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665970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24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581680" y="2984540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65970" y="3391853"/>
            <a:ext cx="4279106" cy="291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324" y="4042886"/>
            <a:ext cx="2495431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324" y="4517827"/>
            <a:ext cx="6391037" cy="1344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659" y="4042886"/>
            <a:ext cx="2447687" cy="305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4565" y="3983355"/>
            <a:ext cx="6630670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altLang="en-US" sz="2000" dirty="0"/>
              <a:t>Stats na Spark klasteru je sporiji nego lokalno zbog mre</a:t>
            </a:r>
            <a:r>
              <a:rPr lang="" altLang="en-US" sz="2000" dirty="0"/>
              <a:t>ž</a:t>
            </a:r>
            <a:r>
              <a:rPr lang="en-US" altLang="en-US" sz="2000" dirty="0"/>
              <a:t>nog ka</a:t>
            </a:r>
            <a:r>
              <a:rPr lang="" altLang="en-US" sz="2000" dirty="0"/>
              <a:t>š</a:t>
            </a:r>
            <a:r>
              <a:rPr lang="en-US" altLang="en-US" sz="2000" dirty="0"/>
              <a:t>njenja (network overhead) i procesa razmene podataka izme</a:t>
            </a:r>
            <a:r>
              <a:rPr lang="" altLang="en-US" sz="2000" dirty="0"/>
              <a:t>đ</a:t>
            </a:r>
            <a:r>
              <a:rPr lang="en-US" altLang="en-US" sz="2000" dirty="0"/>
              <a:t>u </a:t>
            </a:r>
            <a:r>
              <a:rPr lang="" altLang="en-US" sz="2000" dirty="0"/>
              <a:t>č</a:t>
            </a:r>
            <a:r>
              <a:rPr lang="en-US" altLang="en-US" sz="2000" dirty="0"/>
              <a:t>vorova (shuffle), koji su neophodni da bi se agresiralo milione redova sa razli</a:t>
            </a:r>
            <a:r>
              <a:rPr lang="" altLang="en-US" sz="2000" dirty="0"/>
              <a:t>č</a:t>
            </a:r>
            <a:r>
              <a:rPr lang="en-US" altLang="en-US" sz="2000" dirty="0"/>
              <a:t>itih lokacija. Dok lokalna ma</a:t>
            </a:r>
            <a:r>
              <a:rPr lang="" altLang="en-US" sz="2000" dirty="0"/>
              <a:t>š</a:t>
            </a:r>
            <a:r>
              <a:rPr lang="en-US" altLang="en-US" sz="2000" dirty="0"/>
              <a:t>ina sve podatke dr</a:t>
            </a:r>
            <a:r>
              <a:rPr lang="" altLang="en-US" sz="2000" dirty="0"/>
              <a:t>ž</a:t>
            </a:r>
            <a:r>
              <a:rPr lang="en-US" altLang="en-US" sz="2000" dirty="0"/>
              <a:t>i u svom RAM-u, Spark gubi vreme na koordinaciju Mastera i Workera, </a:t>
            </a:r>
            <a:r>
              <a:rPr lang="" altLang="en-US" sz="2000" dirty="0"/>
              <a:t>š</a:t>
            </a:r>
            <a:r>
              <a:rPr lang="en-US" altLang="en-US" sz="2000" dirty="0"/>
              <a:t>to kod manjih klastera i jednostavnih operacija stvara ve</a:t>
            </a:r>
            <a:r>
              <a:rPr lang="" altLang="en-US" sz="2000" dirty="0"/>
              <a:t>ć</a:t>
            </a:r>
            <a:r>
              <a:rPr lang="en-US" altLang="en-US" sz="2000" dirty="0"/>
              <a:t>i tro</a:t>
            </a:r>
            <a:r>
              <a:rPr lang="" altLang="en-US" sz="2000" dirty="0"/>
              <a:t>š</a:t>
            </a:r>
            <a:r>
              <a:rPr lang="en-US" altLang="en-US" sz="2000" dirty="0"/>
              <a:t>ak nego sama obrada.</a:t>
            </a:r>
            <a:endParaRPr lang="en-US" sz="2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7780655"/>
            <a:ext cx="2057400" cy="361950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11"/>
            </p:custDataLst>
          </p:nvPr>
        </p:nvSpPr>
        <p:spPr>
          <a:xfrm>
            <a:off x="5176044" y="2113836"/>
            <a:ext cx="4279106" cy="646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endParaRPr lang="en-US" sz="1600" dirty="0"/>
          </a:p>
        </p:txBody>
      </p:sp>
      <p:sp>
        <p:nvSpPr>
          <p:cNvPr id="16" name="Text Box 15"/>
          <p:cNvSpPr txBox="1"/>
          <p:nvPr/>
        </p:nvSpPr>
        <p:spPr>
          <a:xfrm>
            <a:off x="930910" y="2402205"/>
            <a:ext cx="48768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/>
              <a:t>Spark kod Parquet formata </a:t>
            </a:r>
            <a:r>
              <a:rPr lang="" altLang="en-US" sz="2000"/>
              <a:t>č</a:t>
            </a:r>
            <a:r>
              <a:rPr lang="en-US" altLang="en-US" sz="2000"/>
              <a:t>ita samo neophodne kolone (columnar storage) i koristi ugra</a:t>
            </a:r>
            <a:r>
              <a:rPr lang="" altLang="en-US" sz="2000"/>
              <a:t>đ</a:t>
            </a:r>
            <a:r>
              <a:rPr lang="en-US" altLang="en-US" sz="2000"/>
              <a:t>ene metapodatke za optimizaciju, </a:t>
            </a:r>
            <a:r>
              <a:rPr lang="" altLang="en-US" sz="2000"/>
              <a:t>č</a:t>
            </a:r>
            <a:r>
              <a:rPr lang="en-US" altLang="en-US" sz="2000"/>
              <a:t>ime drasti</a:t>
            </a:r>
            <a:r>
              <a:rPr lang="" altLang="en-US" sz="2000"/>
              <a:t>č</a:t>
            </a:r>
            <a:r>
              <a:rPr lang="en-US" altLang="en-US" sz="2000"/>
              <a:t>no smanjuje mre</a:t>
            </a:r>
            <a:r>
              <a:rPr lang="" altLang="en-US" sz="2000"/>
              <a:t>ž</a:t>
            </a:r>
            <a:r>
              <a:rPr lang="en-US" altLang="en-US" sz="2000"/>
              <a:t>ni saobra</a:t>
            </a:r>
            <a:r>
              <a:rPr lang="" altLang="en-US" sz="2000"/>
              <a:t>ć</a:t>
            </a:r>
            <a:r>
              <a:rPr lang="en-US" altLang="en-US" sz="2000"/>
              <a:t>aj i optere</a:t>
            </a:r>
            <a:r>
              <a:rPr lang="" altLang="en-US" sz="2000"/>
              <a:t>ć</a:t>
            </a:r>
            <a:r>
              <a:rPr lang="en-US" altLang="en-US" sz="2000"/>
              <a:t>enje memorije. S druge strane, kod CSV fajlova klaster mora da "preore" ceo tekstualni red da bi izvukao jednu vrednost, </a:t>
            </a:r>
            <a:r>
              <a:rPr lang="" altLang="en-US" sz="2000"/>
              <a:t>š</a:t>
            </a:r>
            <a:r>
              <a:rPr lang="en-US" altLang="en-US" sz="2000"/>
              <a:t>to dovodi do uskih grla pri obradi miliona podataka.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725567"/>
            <a:ext cx="9180433" cy="6542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Format Poređenje: CSV vs Parquet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2711" y="1766292"/>
            <a:ext cx="13164979" cy="3999071"/>
          </a:xfrm>
          <a:prstGeom prst="roundRect">
            <a:avLst>
              <a:gd name="adj" fmla="val 219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331" y="1773912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9762" y="1897380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Karakteristika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41006" y="1897380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(Row-based)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72099" y="1897380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Parquet (Column-based)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331" y="2343031"/>
            <a:ext cx="13149739" cy="5691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9762" y="2466499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Struktura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41006" y="2466499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Redovi jedan za drugim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72099" y="2466499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Kolone odvojeno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331" y="2912150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9762" y="3035618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Kompresija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41006" y="3035618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Bez kompresije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72099" y="3035618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Visoka (snappy/gzip)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331" y="3481268"/>
            <a:ext cx="13149739" cy="5691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9762" y="3604736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I/O efikasnost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41006" y="3604736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Čita sve kolone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2099" y="3604736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Čita samo potrebne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331" y="4050387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9762" y="4173855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optimizacije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41006" y="4173855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Ograničene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72099" y="4173855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predicate pushdown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331" y="4619506"/>
            <a:ext cx="13149739" cy="5691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9762" y="4742974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Veličina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41006" y="4742974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Veća (~1GB+)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72099" y="4742974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Manja (~300MB)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331" y="5188625"/>
            <a:ext cx="13149739" cy="5691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9762" y="5312093"/>
            <a:ext cx="2865001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Agregacije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41006" y="5312093"/>
            <a:ext cx="450484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Sporije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72099" y="5312093"/>
            <a:ext cx="4508659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Optimizovane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2711" y="5982772"/>
            <a:ext cx="6485811" cy="1521143"/>
          </a:xfrm>
          <a:prstGeom prst="roundRect">
            <a:avLst>
              <a:gd name="adj" fmla="val 578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643" y="6199703"/>
            <a:ext cx="2617232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Parquet prednosti</a:t>
            </a:r>
            <a:endParaRPr lang="en-US" sz="2050" dirty="0"/>
          </a:p>
        </p:txBody>
      </p:sp>
      <p:sp>
        <p:nvSpPr>
          <p:cNvPr id="34" name="Text 32"/>
          <p:cNvSpPr/>
          <p:nvPr/>
        </p:nvSpPr>
        <p:spPr>
          <a:xfrm>
            <a:off x="949643" y="6642616"/>
            <a:ext cx="6051947" cy="644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storage, kompresija, predicate pushdown, brže učitavanje u Spark-u, manje prostora na disku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11760" y="5982772"/>
            <a:ext cx="6485930" cy="1521143"/>
          </a:xfrm>
          <a:prstGeom prst="roundRect">
            <a:avLst>
              <a:gd name="adj" fmla="val 578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8692" y="6199703"/>
            <a:ext cx="2617232" cy="3270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CSV prednosti</a:t>
            </a:r>
            <a:endParaRPr lang="en-US" sz="2050" dirty="0"/>
          </a:p>
        </p:txBody>
      </p:sp>
      <p:sp>
        <p:nvSpPr>
          <p:cNvPr id="37" name="Text 35"/>
          <p:cNvSpPr/>
          <p:nvPr/>
        </p:nvSpPr>
        <p:spPr>
          <a:xfrm>
            <a:off x="7628692" y="6642616"/>
            <a:ext cx="6052066" cy="6443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Čitljiv, lako parsiranje, široka kompatibilnost, jednostavno debugovanje</a:t>
            </a:r>
            <a:endParaRPr lang="en-US" sz="16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0" y="7729220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5454" y="892373"/>
            <a:ext cx="7177088" cy="5062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Testiranje i Evaluacija Performansi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1725454" y="2822734"/>
            <a:ext cx="11179373" cy="22860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4" name="Shape 2"/>
          <p:cNvSpPr/>
          <p:nvPr/>
        </p:nvSpPr>
        <p:spPr>
          <a:xfrm>
            <a:off x="3906322" y="2336780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5" name="Shape 3"/>
          <p:cNvSpPr/>
          <p:nvPr/>
        </p:nvSpPr>
        <p:spPr>
          <a:xfrm>
            <a:off x="3735586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6248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05363" y="1629966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Lokalno testiranje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87379" y="1952506"/>
            <a:ext cx="4061103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 dataset (~5K redova) za debugging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1128" y="2822674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10" name="Shape 8"/>
          <p:cNvSpPr/>
          <p:nvPr/>
        </p:nvSpPr>
        <p:spPr>
          <a:xfrm>
            <a:off x="6000393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1055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70051" y="3470791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Docker cluster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52067" y="3793331"/>
            <a:ext cx="4061222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master + worker containers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35935" y="2336780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15" name="Shape 13"/>
          <p:cNvSpPr/>
          <p:nvPr/>
        </p:nvSpPr>
        <p:spPr>
          <a:xfrm>
            <a:off x="8265200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5862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34858" y="1629966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Execution time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16873" y="1952506"/>
            <a:ext cx="4061222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Merenje vremena izvršavanja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700742" y="2822674"/>
            <a:ext cx="22860" cy="486013"/>
          </a:xfrm>
          <a:prstGeom prst="roundRect">
            <a:avLst>
              <a:gd name="adj" fmla="val 297674"/>
            </a:avLst>
          </a:prstGeom>
          <a:solidFill>
            <a:srgbClr val="DDD3BA"/>
          </a:solidFill>
        </p:spPr>
      </p:sp>
      <p:sp>
        <p:nvSpPr>
          <p:cNvPr id="20" name="Shape 18"/>
          <p:cNvSpPr/>
          <p:nvPr/>
        </p:nvSpPr>
        <p:spPr>
          <a:xfrm>
            <a:off x="10530007" y="2640509"/>
            <a:ext cx="364450" cy="364450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90669" y="2670810"/>
            <a:ext cx="243007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99665" y="3470791"/>
            <a:ext cx="2025134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Analiza rezultata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1680" y="3793331"/>
            <a:ext cx="4061222" cy="2221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Identifikacija bottleneck-a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725454" y="4188976"/>
            <a:ext cx="2430185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Posmatranja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25454" y="4666178"/>
            <a:ext cx="11179373" cy="101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operacija sporija zbog shuffle overhead-a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Stats optimizovan kroz paralelne agregacije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Parquet smanjuje scan vreme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I/O operacije dominiraju izvršavanjem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725454" y="5849779"/>
            <a:ext cx="2430185" cy="303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Docker arhitektura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725454" y="6326981"/>
            <a:ext cx="11179373" cy="10101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master container (port 8080)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worker containers (više instanci)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Zajednička Docker mreža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volume za dataset</a:t>
            </a:r>
            <a:endParaRPr lang="en-US" sz="12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0" y="779335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1575" y="1661160"/>
            <a:ext cx="4706183" cy="397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Zaključak i Dalje Mogućnosti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931575" y="2165509"/>
            <a:ext cx="4091107" cy="1281113"/>
          </a:xfrm>
          <a:prstGeom prst="roundRect">
            <a:avLst>
              <a:gd name="adj" fmla="val 41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66353" y="2300288"/>
            <a:ext cx="381476" cy="381476"/>
          </a:xfrm>
          <a:prstGeom prst="roundRect">
            <a:avLst>
              <a:gd name="adj" fmla="val 23967656"/>
            </a:avLst>
          </a:prstGeom>
          <a:solidFill>
            <a:srgbClr val="B88E23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1248" y="2405182"/>
            <a:ext cx="171688" cy="171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66353" y="2753082"/>
            <a:ext cx="1589842" cy="198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Implementirano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066353" y="2994422"/>
            <a:ext cx="3821549" cy="3174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Distribuirana batch obrada, Spark + HDFS integracija, data cleaning pipeline, Parquet optimizacija, performans testiranje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0094000" y="2165509"/>
            <a:ext cx="4091226" cy="1281113"/>
          </a:xfrm>
          <a:prstGeom prst="roundRect">
            <a:avLst>
              <a:gd name="adj" fmla="val 41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28778" y="2300288"/>
            <a:ext cx="381476" cy="381476"/>
          </a:xfrm>
          <a:prstGeom prst="roundRect">
            <a:avLst>
              <a:gd name="adj" fmla="val 23967656"/>
            </a:avLst>
          </a:prstGeom>
          <a:solidFill>
            <a:srgbClr val="B88E23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3673" y="2405182"/>
            <a:ext cx="171688" cy="1716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28778" y="2753082"/>
            <a:ext cx="1589842" cy="198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Optimizacije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0228778" y="2994422"/>
            <a:ext cx="3821668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Columnar format, paralelna obrada, fault tolerance, data locality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931575" y="3517940"/>
            <a:ext cx="8253651" cy="1122402"/>
          </a:xfrm>
          <a:prstGeom prst="roundRect">
            <a:avLst>
              <a:gd name="adj" fmla="val 476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66353" y="3652718"/>
            <a:ext cx="381476" cy="381476"/>
          </a:xfrm>
          <a:prstGeom prst="roundRect">
            <a:avLst>
              <a:gd name="adj" fmla="val 23967656"/>
            </a:avLst>
          </a:prstGeom>
          <a:solidFill>
            <a:srgbClr val="B88E23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1248" y="3757613"/>
            <a:ext cx="171688" cy="1716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66353" y="4105513"/>
            <a:ext cx="1589842" cy="198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Skalabilnost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066353" y="4346853"/>
            <a:ext cx="7984093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Horizontalno širenje na veće klustere, processing velikih dataset-a u prihvatljivom vremenu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931575" y="4747260"/>
            <a:ext cx="1907858" cy="238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Dalje mogućnosti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931575" y="5092541"/>
            <a:ext cx="8253651" cy="10766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Skaliranje na 100M+ redova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tuning (spark.executor.memory)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Additional statistical analyses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visualization (matplotlib/seaborn)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processing (Structured Streaming)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pipeline (MLlib)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122313" y="6329482"/>
            <a:ext cx="8062913" cy="158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"Apache Spark omogućava skalabilnu i efikasnu obradu velikih dataset-a kroz distribuiranu arhitekturu."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931575" y="6249353"/>
            <a:ext cx="15240" cy="318968"/>
          </a:xfrm>
          <a:prstGeom prst="rect">
            <a:avLst/>
          </a:prstGeom>
          <a:solidFill>
            <a:srgbClr val="B88E23"/>
          </a:solidFill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7731125"/>
            <a:ext cx="2057400" cy="3619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2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31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2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3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4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5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6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7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8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39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0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1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2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3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4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5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6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7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8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49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50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51.xml><?xml version="1.0" encoding="utf-8"?>
<p:tagLst xmlns:p="http://schemas.openxmlformats.org/presentationml/2006/main">
  <p:tag name="KSO_WM_DIAGRAM_VIRTUALLY_FRAME" val="{&quot;height&quot;:328.22811023622046,&quot;left&quot;:58.2,&quot;top&quot;:149.6812598425197,&quot;width&quot;:1035.6}"/>
</p:tagLst>
</file>

<file path=ppt/tags/tag5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5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6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7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8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9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2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3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4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5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6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7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8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09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10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ags/tag111.xml><?xml version="1.0" encoding="utf-8"?>
<p:tagLst xmlns:p="http://schemas.openxmlformats.org/presentationml/2006/main">
  <p:tag name="KSO_WM_DIAGRAM_VIRTUALLY_FRAME" val="{&quot;height&quot;:123.61874015748029,&quot;left&quot;:53.96251968503937,&quot;top&quot;:166.44377952755906,&quot;width&quot;:1044.074960629921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6439</Words>
  <Application>WPS Presentation</Application>
  <PresentationFormat>On-screen Show (16:9)</PresentationFormat>
  <Paragraphs>366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Arial</vt:lpstr>
      <vt:lpstr>SimSun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Libre Baskerville Light</vt:lpstr>
      <vt:lpstr>Segoe Print</vt:lpstr>
      <vt:lpstr>Libre Baskerville Light</vt:lpstr>
      <vt:lpstr>Libre Baskerville Light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Sajko</cp:lastModifiedBy>
  <cp:revision>10</cp:revision>
  <dcterms:created xsi:type="dcterms:W3CDTF">2026-02-24T08:46:00Z</dcterms:created>
  <dcterms:modified xsi:type="dcterms:W3CDTF">2026-03-27T14:33:08Z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31B3735FAFBE449681F65F51B50F3F93_12</vt:lpwstr>
  </property>
  <property fmtid="{D5CDD505-2E9C-101B-9397-08002B2CF9AE}" pid="3" name="KSOProductBuildVer">
    <vt:lpwstr>1033-12.2.0.23196</vt:lpwstr>
  </property>
</Properties>
</file>